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714C347-FE46-624E-6BFF-465630577A02}">
          <p14:sldIdLst>
            <p14:sldId id="256"/>
          </p14:sldIdLst>
        </p14:section>
        <p14:section name="Problem" id="{CED368EE-9C6B-F6E1-544B-4203FCC10D52}">
          <p14:sldIdLst>
            <p14:sldId id="257"/>
          </p14:sldIdLst>
        </p14:section>
        <p14:section name="Architecture" id="{1CC361B9-8180-7C7C-704E-99DD1A48B164}">
          <p14:sldIdLst>
            <p14:sldId id="258"/>
            <p14:sldId id="259"/>
            <p14:sldId id="260"/>
          </p14:sldIdLst>
        </p14:section>
        <p14:section name="Demo" id="{1787B9DB-6915-5AF0-3004-0CB2BC69ECFA}">
          <p14:sldIdLst>
            <p14:sldId id="261"/>
          </p14:sldIdLst>
        </p14:section>
        <p14:section name="Evidence" id="{B4644F79-F87E-54DC-34F3-9059EDD1F239}">
          <p14:sldIdLst>
            <p14:sldId id="262"/>
            <p14:sldId id="263"/>
          </p14:sldIdLst>
        </p14:section>
        <p14:section name="Guardrails" id="{D791AD1E-8643-6408-24E4-AECEF54380A0}">
          <p14:sldIdLst>
            <p14:sldId id="264"/>
            <p14:sldId id="265"/>
          </p14:sldIdLst>
        </p14:section>
        <p14:section name="Close" id="{D104CE45-3D9C-0413-3087-840F42C8F53C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3D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F3A3D"/>
                </a:solidFill>
                <a:latin typeface="+mn-lt"/>
              </a:rPr>
              <a:t>Scenarios by brief category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normal</c:v>
                </c:pt>
                <c:pt idx="1">
                  <c:v>edge</c:v>
                </c:pt>
                <c:pt idx="2">
                  <c:v>incorrect info</c:v>
                </c:pt>
                <c:pt idx="3">
                  <c:v>adversarial</c:v>
                </c:pt>
                <c:pt idx="4">
                  <c:v>tool failure</c:v>
                </c:pt>
                <c:pt idx="5">
                  <c:v>unauthorized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10</c:v>
                </c:pt>
                <c:pt idx="2">
                  <c:v>5</c:v>
                </c:pt>
                <c:pt idx="3">
                  <c:v>17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01-EB44-AAD0-DDC4192BC3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PARTIAL (documented gap)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normal</c:v>
                </c:pt>
                <c:pt idx="1">
                  <c:v>edge</c:v>
                </c:pt>
                <c:pt idx="2">
                  <c:v>incorrect info</c:v>
                </c:pt>
                <c:pt idx="3">
                  <c:v>adversarial</c:v>
                </c:pt>
                <c:pt idx="4">
                  <c:v>tool failure</c:v>
                </c:pt>
                <c:pt idx="5">
                  <c:v>unauthorized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4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01-EB44-AAD0-DDC4192BC32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Expected FAIL (red-team probe caught)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normal</c:v>
                </c:pt>
                <c:pt idx="1">
                  <c:v>edge</c:v>
                </c:pt>
                <c:pt idx="2">
                  <c:v>incorrect info</c:v>
                </c:pt>
                <c:pt idx="3">
                  <c:v>adversarial</c:v>
                </c:pt>
                <c:pt idx="4">
                  <c:v>tool failure</c:v>
                </c:pt>
                <c:pt idx="5">
                  <c:v>unauthorized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01-EB44-AAD0-DDC4192BC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6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6F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B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86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Introduce the group and the one-line idea: the AI proposes one step at a time; ordinary code and people decide whether anything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 (problem, user, why AI). Stress the fourth card: the whole design answers 'AI is useful but untrustworthy on its own'.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Walk left to right. The amber box is the only AI step; everything else is deterministic and covered by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(progression model -&gt; RAG -&gt; tools -&gt; agent -&gt; evaluation, as the brief asks). Mention each layer was added on top of a tested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The loop (Member 2) owns only the order of steps; every policy is an injected, separately tested part, owned as labelled. Memory (Week 6) is built and tested but not yet read by the live planner. Full diagram: docs/architecture/l5-agent-loop.png.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 live demo. Run 1, 2, 3 in a terminal at large font. Only attempt 4 if the network and key are ready; otherwise open evidence/test-runs/week8/agent-session/live_session.json.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 (evidence view). Command: python3 tests/run_scenarios.py. Four suites by three members; amber PARTIAL = documented known limitations, red FAIL = red-team probes the harness must catch. Full table: evidence/evaluation/week7-scenario-results.md.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 (real failure / controlled recovery). Left: evidence/traces/runs/...failure-recovery...jsonl via scripts/show_run_log.py. Right: evidence/test-runs/week8/real-model/20261016T145654Z_live/calls/adversarial_prompt_injection_in_source_comment__v1.3__run1.json. Be honest that this is a remaining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 (guardrails and human approval boundaries). The agent can never merge, deploy, submit issues, read secrets or run arbitrary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Member 4's Failure Catalogue (docs/evaluation/week7-failure-catalogue.md). Each defect is re-run automatically against the historical code and today's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(key lessons). Next steps: more live runs per case to measure rates, wire memory into the planner, run tests in a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take questions. Point examiners to docs/SYSTEM_GUIDE.md and docs/final-report/evidence-index.md.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Group J  |  Software-Engineering QA Agent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 QA agent that proposes, and never decides alone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Software-Engineering QA Agent  |  BSE4104 Capstone  |  Group J  |  October 2026</a:t>
            </a:r>
            <a:endParaRPr lang="en-US" sz="1800" dirty="0"/>
          </a:p>
        </p:txBody>
      </p:sp>
      <p:pic>
        <p:nvPicPr>
          <p:cNvPr id="4" name="motif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  <p:sp>
        <p:nvSpPr>
          <p:cNvPr id="5" name="team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Amabe Junior Humphrey  ·  Akanga Andrew  ·  Karagwa Ann Treasure  ·  Ayan Mustafa Abdirahman  ·  Wanyana Selina Masembe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problem: test design is slow, and AI guesses</a:t>
            </a:r>
            <a:endParaRPr lang="en-US" sz="2800" dirty="0"/>
          </a:p>
        </p:txBody>
      </p:sp>
      <p:sp>
        <p:nvSpPr>
          <p:cNvPr id="3" name="card0"/>
          <p:cNvSpPr/>
          <p:nvPr/>
        </p:nvSpPr>
        <p:spPr>
          <a:xfrm>
            <a:off x="457200" y="123444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conbg0"/>
          <p:cNvSpPr/>
          <p:nvPr/>
        </p:nvSpPr>
        <p:spPr>
          <a:xfrm>
            <a:off x="109728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con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00200"/>
            <a:ext cx="365760" cy="365760"/>
          </a:xfrm>
          <a:prstGeom prst="rect">
            <a:avLst/>
          </a:prstGeom>
        </p:spPr>
      </p:pic>
      <p:sp>
        <p:nvSpPr>
          <p:cNvPr id="6" name="head0"/>
          <p:cNvSpPr txBox="1"/>
          <p:nvPr/>
        </p:nvSpPr>
        <p:spPr>
          <a:xfrm>
            <a:off x="50292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Who</a:t>
            </a:r>
            <a:endParaRPr lang="en-US" sz="1500" dirty="0"/>
          </a:p>
        </p:txBody>
      </p:sp>
      <p:sp>
        <p:nvSpPr>
          <p:cNvPr id="7" name="body0"/>
          <p:cNvSpPr txBox="1"/>
          <p:nvPr/>
        </p:nvSpPr>
        <p:spPr>
          <a:xfrm>
            <a:off x="566928" y="265176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A developer or QA engineer on a small team, reviewing one module at a time.</a:t>
            </a:r>
            <a:endParaRPr lang="en-US" sz="1300" dirty="0"/>
          </a:p>
        </p:txBody>
      </p:sp>
      <p:sp>
        <p:nvSpPr>
          <p:cNvPr id="8" name="card1"/>
          <p:cNvSpPr/>
          <p:nvPr/>
        </p:nvSpPr>
        <p:spPr>
          <a:xfrm>
            <a:off x="2560320" y="123444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conbg1"/>
          <p:cNvSpPr/>
          <p:nvPr/>
        </p:nvSpPr>
        <p:spPr>
          <a:xfrm>
            <a:off x="320040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con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600200"/>
            <a:ext cx="365760" cy="365760"/>
          </a:xfrm>
          <a:prstGeom prst="rect">
            <a:avLst/>
          </a:prstGeom>
        </p:spPr>
      </p:pic>
      <p:sp>
        <p:nvSpPr>
          <p:cNvPr id="11" name="head1"/>
          <p:cNvSpPr txBox="1"/>
          <p:nvPr/>
        </p:nvSpPr>
        <p:spPr>
          <a:xfrm>
            <a:off x="260604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Pain point</a:t>
            </a:r>
            <a:endParaRPr lang="en-US" sz="1500" dirty="0"/>
          </a:p>
        </p:txBody>
      </p:sp>
      <p:sp>
        <p:nvSpPr>
          <p:cNvPr id="12" name="body1"/>
          <p:cNvSpPr txBox="1"/>
          <p:nvPr/>
        </p:nvSpPr>
        <p:spPr>
          <a:xfrm>
            <a:off x="2670048" y="265176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Reading requirements, code and logs to decide which tests to write and run takes hours.</a:t>
            </a:r>
            <a:endParaRPr lang="en-US" sz="1300" dirty="0"/>
          </a:p>
        </p:txBody>
      </p:sp>
      <p:sp>
        <p:nvSpPr>
          <p:cNvPr id="13" name="card2"/>
          <p:cNvSpPr/>
          <p:nvPr/>
        </p:nvSpPr>
        <p:spPr>
          <a:xfrm>
            <a:off x="4663440" y="123444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bg2"/>
          <p:cNvSpPr/>
          <p:nvPr/>
        </p:nvSpPr>
        <p:spPr>
          <a:xfrm>
            <a:off x="530352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con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600200"/>
            <a:ext cx="365760" cy="365760"/>
          </a:xfrm>
          <a:prstGeom prst="rect">
            <a:avLst/>
          </a:prstGeom>
        </p:spPr>
      </p:pic>
      <p:sp>
        <p:nvSpPr>
          <p:cNvPr id="16" name="head2"/>
          <p:cNvSpPr txBox="1"/>
          <p:nvPr/>
        </p:nvSpPr>
        <p:spPr>
          <a:xfrm>
            <a:off x="470916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Why AI</a:t>
            </a:r>
            <a:endParaRPr lang="en-US" sz="1500" dirty="0"/>
          </a:p>
        </p:txBody>
      </p:sp>
      <p:sp>
        <p:nvSpPr>
          <p:cNvPr id="17" name="body2"/>
          <p:cNvSpPr txBox="1"/>
          <p:nvPr/>
        </p:nvSpPr>
        <p:spPr>
          <a:xfrm>
            <a:off x="4773168" y="265176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Reading natural-language requirements and proposing tests is interpretation, which models do well.</a:t>
            </a:r>
            <a:endParaRPr lang="en-US" sz="1300" dirty="0"/>
          </a:p>
        </p:txBody>
      </p:sp>
      <p:sp>
        <p:nvSpPr>
          <p:cNvPr id="18" name="card3"/>
          <p:cNvSpPr/>
          <p:nvPr/>
        </p:nvSpPr>
        <p:spPr>
          <a:xfrm>
            <a:off x="6766560" y="123444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conbg3"/>
          <p:cNvSpPr/>
          <p:nvPr/>
        </p:nvSpPr>
        <p:spPr>
          <a:xfrm>
            <a:off x="7406640" y="14630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600200"/>
            <a:ext cx="365760" cy="365760"/>
          </a:xfrm>
          <a:prstGeom prst="rect">
            <a:avLst/>
          </a:prstGeom>
        </p:spPr>
      </p:pic>
      <p:sp>
        <p:nvSpPr>
          <p:cNvPr id="21" name="head3"/>
          <p:cNvSpPr txBox="1"/>
          <p:nvPr/>
        </p:nvSpPr>
        <p:spPr>
          <a:xfrm>
            <a:off x="681228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Why not AI alone</a:t>
            </a:r>
            <a:endParaRPr lang="en-US" sz="1500" dirty="0"/>
          </a:p>
        </p:txBody>
      </p:sp>
      <p:sp>
        <p:nvSpPr>
          <p:cNvPr id="22" name="body3"/>
          <p:cNvSpPr txBox="1"/>
          <p:nvPr/>
        </p:nvSpPr>
        <p:spPr>
          <a:xfrm>
            <a:off x="6876288" y="2651760"/>
            <a:ext cx="17007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Models invent sources and follow hidden instructions, so code must check every step.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One session: sense, plan, check, act, observe</a:t>
            </a:r>
            <a:endParaRPr lang="en-US" sz="2800" dirty="0"/>
          </a:p>
        </p:txBody>
      </p:sp>
      <p:sp>
        <p:nvSpPr>
          <p:cNvPr id="3" name="step0"/>
          <p:cNvSpPr/>
          <p:nvPr/>
        </p:nvSpPr>
        <p:spPr>
          <a:xfrm>
            <a:off x="457200" y="1371600"/>
            <a:ext cx="1499616" cy="1828800"/>
          </a:xfrm>
          <a:prstGeom prst="roundRect">
            <a:avLst>
              <a:gd name="adj" fmla="val 609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eph0"/>
          <p:cNvSpPr txBox="1"/>
          <p:nvPr/>
        </p:nvSpPr>
        <p:spPr>
          <a:xfrm>
            <a:off x="530352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1  Sense</a:t>
            </a:r>
            <a:endParaRPr lang="en-US" sz="1600" dirty="0"/>
          </a:p>
        </p:txBody>
      </p:sp>
      <p:sp>
        <p:nvSpPr>
          <p:cNvPr id="5" name="stepb0"/>
          <p:cNvSpPr txBox="1"/>
          <p:nvPr/>
        </p:nvSpPr>
        <p:spPr>
          <a:xfrm>
            <a:off x="530352" y="192024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Search the 22 approved documents; hide secrets; flag tricks</a:t>
            </a:r>
            <a:endParaRPr lang="en-US" sz="1400" dirty="0"/>
          </a:p>
        </p:txBody>
      </p:sp>
      <p:sp>
        <p:nvSpPr>
          <p:cNvPr id="6" name="step1"/>
          <p:cNvSpPr/>
          <p:nvPr/>
        </p:nvSpPr>
        <p:spPr>
          <a:xfrm>
            <a:off x="2139696" y="1371600"/>
            <a:ext cx="1499616" cy="1828800"/>
          </a:xfrm>
          <a:prstGeom prst="roundRect">
            <a:avLst>
              <a:gd name="adj" fmla="val 609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eph1"/>
          <p:cNvSpPr txBox="1"/>
          <p:nvPr/>
        </p:nvSpPr>
        <p:spPr>
          <a:xfrm>
            <a:off x="2212848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 Plan</a:t>
            </a:r>
            <a:endParaRPr lang="en-US" sz="1600" dirty="0"/>
          </a:p>
        </p:txBody>
      </p:sp>
      <p:sp>
        <p:nvSpPr>
          <p:cNvPr id="8" name="stepb1"/>
          <p:cNvSpPr txBox="1"/>
          <p:nvPr/>
        </p:nvSpPr>
        <p:spPr>
          <a:xfrm>
            <a:off x="2212848" y="192024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Gemini proposes ONE action as JSON, using prompt v1.3</a:t>
            </a:r>
            <a:endParaRPr lang="en-US" sz="1400" dirty="0"/>
          </a:p>
        </p:txBody>
      </p:sp>
      <p:sp>
        <p:nvSpPr>
          <p:cNvPr id="9" name="step2"/>
          <p:cNvSpPr/>
          <p:nvPr/>
        </p:nvSpPr>
        <p:spPr>
          <a:xfrm>
            <a:off x="3822192" y="1371600"/>
            <a:ext cx="1499616" cy="1828800"/>
          </a:xfrm>
          <a:prstGeom prst="roundRect">
            <a:avLst>
              <a:gd name="adj" fmla="val 609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eph2"/>
          <p:cNvSpPr txBox="1"/>
          <p:nvPr/>
        </p:nvSpPr>
        <p:spPr>
          <a:xfrm>
            <a:off x="3895344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3  Check</a:t>
            </a:r>
            <a:endParaRPr lang="en-US" sz="1600" dirty="0"/>
          </a:p>
        </p:txBody>
      </p:sp>
      <p:sp>
        <p:nvSpPr>
          <p:cNvPr id="11" name="stepb2"/>
          <p:cNvSpPr txBox="1"/>
          <p:nvPr/>
        </p:nvSpPr>
        <p:spPr>
          <a:xfrm>
            <a:off x="3895344" y="192024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Reject any citation not supplied this turn</a:t>
            </a:r>
            <a:endParaRPr lang="en-US" sz="1400" dirty="0"/>
          </a:p>
        </p:txBody>
      </p:sp>
      <p:sp>
        <p:nvSpPr>
          <p:cNvPr id="12" name="step3"/>
          <p:cNvSpPr/>
          <p:nvPr/>
        </p:nvSpPr>
        <p:spPr>
          <a:xfrm>
            <a:off x="5504688" y="1371600"/>
            <a:ext cx="1499616" cy="1828800"/>
          </a:xfrm>
          <a:prstGeom prst="roundRect">
            <a:avLst>
              <a:gd name="adj" fmla="val 609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eph3"/>
          <p:cNvSpPr txBox="1"/>
          <p:nvPr/>
        </p:nvSpPr>
        <p:spPr>
          <a:xfrm>
            <a:off x="557784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4  Act</a:t>
            </a:r>
            <a:endParaRPr lang="en-US" sz="1600" dirty="0"/>
          </a:p>
        </p:txBody>
      </p:sp>
      <p:sp>
        <p:nvSpPr>
          <p:cNvPr id="14" name="stepb3"/>
          <p:cNvSpPr txBox="1"/>
          <p:nvPr/>
        </p:nvSpPr>
        <p:spPr>
          <a:xfrm>
            <a:off x="5577840" y="192024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Run an allowed tool; risky tools wait for a human</a:t>
            </a:r>
            <a:endParaRPr lang="en-US" sz="1400" dirty="0"/>
          </a:p>
        </p:txBody>
      </p:sp>
      <p:sp>
        <p:nvSpPr>
          <p:cNvPr id="15" name="step4"/>
          <p:cNvSpPr/>
          <p:nvPr/>
        </p:nvSpPr>
        <p:spPr>
          <a:xfrm>
            <a:off x="7187184" y="1371600"/>
            <a:ext cx="1499616" cy="1828800"/>
          </a:xfrm>
          <a:prstGeom prst="roundRect">
            <a:avLst>
              <a:gd name="adj" fmla="val 609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h4"/>
          <p:cNvSpPr txBox="1"/>
          <p:nvPr/>
        </p:nvSpPr>
        <p:spPr>
          <a:xfrm>
            <a:off x="7260336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5  Observe</a:t>
            </a:r>
            <a:endParaRPr lang="en-US" sz="1600" dirty="0"/>
          </a:p>
        </p:txBody>
      </p:sp>
      <p:sp>
        <p:nvSpPr>
          <p:cNvPr id="17" name="stepb4"/>
          <p:cNvSpPr txBox="1"/>
          <p:nvPr/>
        </p:nvSpPr>
        <p:spPr>
          <a:xfrm>
            <a:off x="7260336" y="192024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Log the step; stop on 5 turns, 120 s, repeats</a:t>
            </a:r>
            <a:endParaRPr lang="en-US" sz="1400" dirty="0"/>
          </a:p>
        </p:txBody>
      </p:sp>
      <p:sp>
        <p:nvSpPr>
          <p:cNvPr id="18" name="arrow0"/>
          <p:cNvSpPr/>
          <p:nvPr/>
        </p:nvSpPr>
        <p:spPr>
          <a:xfrm>
            <a:off x="1975104" y="2176272"/>
            <a:ext cx="146304" cy="219456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rrow1"/>
          <p:cNvSpPr/>
          <p:nvPr/>
        </p:nvSpPr>
        <p:spPr>
          <a:xfrm>
            <a:off x="3657600" y="2176272"/>
            <a:ext cx="146304" cy="219456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rrow2"/>
          <p:cNvSpPr/>
          <p:nvPr/>
        </p:nvSpPr>
        <p:spPr>
          <a:xfrm>
            <a:off x="5340096" y="2176272"/>
            <a:ext cx="146304" cy="219456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rrow3"/>
          <p:cNvSpPr/>
          <p:nvPr/>
        </p:nvSpPr>
        <p:spPr>
          <a:xfrm>
            <a:off x="7022592" y="2176272"/>
            <a:ext cx="146304" cy="219456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akeaway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Only step 2 is AI. </a:t>
            </a:r>
            <a:r>
              <a:rPr lang="en-US" sz="1500" dirty="0">
                <a:solidFill>
                  <a:schemeClr val="tx1"/>
                </a:solidFill>
              </a:rPr>
              <a:t>Steps 1, 3, 4 and 5 are ordinary, tested code. A run ends with a cited test proposal, a draft note, or a safe stop.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Built in layers, one capability per week</a:t>
            </a:r>
            <a:endParaRPr lang="en-US" sz="2800" dirty="0"/>
          </a:p>
        </p:txBody>
      </p:sp>
      <p:sp>
        <p:nvSpPr>
          <p:cNvPr id="3" name="axis"/>
          <p:cNvSpPr/>
          <p:nvPr/>
        </p:nvSpPr>
        <p:spPr>
          <a:xfrm>
            <a:off x="731520" y="1874520"/>
            <a:ext cx="7680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ot0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wk0"/>
          <p:cNvSpPr txBox="1"/>
          <p:nvPr/>
        </p:nvSpPr>
        <p:spPr>
          <a:xfrm>
            <a:off x="502920" y="1143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W2</a:t>
            </a:r>
            <a:endParaRPr lang="en-US" sz="1300" dirty="0"/>
          </a:p>
        </p:txBody>
      </p:sp>
      <p:sp>
        <p:nvSpPr>
          <p:cNvPr id="6" name="cap0"/>
          <p:cNvSpPr txBox="1"/>
          <p:nvPr/>
        </p:nvSpPr>
        <p:spPr>
          <a:xfrm>
            <a:off x="50292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</a:t>
            </a:r>
            <a:endParaRPr lang="en-US" sz="1600" dirty="0"/>
          </a:p>
        </p:txBody>
      </p:sp>
      <p:sp>
        <p:nvSpPr>
          <p:cNvPr id="7" name="desc0"/>
          <p:cNvSpPr txBox="1"/>
          <p:nvPr/>
        </p:nvSpPr>
        <p:spPr>
          <a:xfrm>
            <a:off x="484632" y="2651760"/>
            <a:ext cx="13167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Gemini client, prompt v1.0, env config</a:t>
            </a:r>
            <a:endParaRPr lang="en-US" sz="1200" dirty="0"/>
          </a:p>
        </p:txBody>
      </p:sp>
      <p:sp>
        <p:nvSpPr>
          <p:cNvPr id="8" name="dot1"/>
          <p:cNvSpPr/>
          <p:nvPr/>
        </p:nvSpPr>
        <p:spPr>
          <a:xfrm>
            <a:off x="2286000" y="16459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wk1"/>
          <p:cNvSpPr txBox="1"/>
          <p:nvPr/>
        </p:nvSpPr>
        <p:spPr>
          <a:xfrm>
            <a:off x="1874520" y="1143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W3</a:t>
            </a:r>
            <a:endParaRPr lang="en-US" sz="1300" dirty="0"/>
          </a:p>
        </p:txBody>
      </p:sp>
      <p:sp>
        <p:nvSpPr>
          <p:cNvPr id="10" name="cap1"/>
          <p:cNvSpPr txBox="1"/>
          <p:nvPr/>
        </p:nvSpPr>
        <p:spPr>
          <a:xfrm>
            <a:off x="187452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RAG</a:t>
            </a:r>
            <a:endParaRPr lang="en-US" sz="1600" dirty="0"/>
          </a:p>
        </p:txBody>
      </p:sp>
      <p:sp>
        <p:nvSpPr>
          <p:cNvPr id="11" name="desc1"/>
          <p:cNvSpPr txBox="1"/>
          <p:nvPr/>
        </p:nvSpPr>
        <p:spPr>
          <a:xfrm>
            <a:off x="1856232" y="2651760"/>
            <a:ext cx="13167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22-doc corpus, BM25 search, evidence wrapper</a:t>
            </a:r>
            <a:endParaRPr lang="en-US" sz="1200" dirty="0"/>
          </a:p>
        </p:txBody>
      </p:sp>
      <p:sp>
        <p:nvSpPr>
          <p:cNvPr id="12" name="dot2"/>
          <p:cNvSpPr/>
          <p:nvPr/>
        </p:nvSpPr>
        <p:spPr>
          <a:xfrm>
            <a:off x="3657600" y="16459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wk2"/>
          <p:cNvSpPr txBox="1"/>
          <p:nvPr/>
        </p:nvSpPr>
        <p:spPr>
          <a:xfrm>
            <a:off x="3246120" y="1143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W4</a:t>
            </a:r>
            <a:endParaRPr lang="en-US" sz="1300" dirty="0"/>
          </a:p>
        </p:txBody>
      </p:sp>
      <p:sp>
        <p:nvSpPr>
          <p:cNvPr id="14" name="cap2"/>
          <p:cNvSpPr txBox="1"/>
          <p:nvPr/>
        </p:nvSpPr>
        <p:spPr>
          <a:xfrm>
            <a:off x="324612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Tools</a:t>
            </a:r>
            <a:endParaRPr lang="en-US" sz="1600" dirty="0"/>
          </a:p>
        </p:txBody>
      </p:sp>
      <p:sp>
        <p:nvSpPr>
          <p:cNvPr id="15" name="desc2"/>
          <p:cNvSpPr txBox="1"/>
          <p:nvPr/>
        </p:nvSpPr>
        <p:spPr>
          <a:xfrm>
            <a:off x="3227832" y="2651760"/>
            <a:ext cx="13167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4 tools, dispatcher, human approval gate</a:t>
            </a:r>
            <a:endParaRPr lang="en-US" sz="1200" dirty="0"/>
          </a:p>
        </p:txBody>
      </p:sp>
      <p:sp>
        <p:nvSpPr>
          <p:cNvPr id="16" name="dot3"/>
          <p:cNvSpPr/>
          <p:nvPr/>
        </p:nvSpPr>
        <p:spPr>
          <a:xfrm>
            <a:off x="5029200" y="16459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wk3"/>
          <p:cNvSpPr txBox="1"/>
          <p:nvPr/>
        </p:nvSpPr>
        <p:spPr>
          <a:xfrm>
            <a:off x="4617720" y="1143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W5</a:t>
            </a:r>
            <a:endParaRPr lang="en-US" sz="1300" dirty="0"/>
          </a:p>
        </p:txBody>
      </p:sp>
      <p:sp>
        <p:nvSpPr>
          <p:cNvPr id="18" name="cap3"/>
          <p:cNvSpPr txBox="1"/>
          <p:nvPr/>
        </p:nvSpPr>
        <p:spPr>
          <a:xfrm>
            <a:off x="461772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Agent</a:t>
            </a:r>
            <a:endParaRPr lang="en-US" sz="1600" dirty="0"/>
          </a:p>
        </p:txBody>
      </p:sp>
      <p:sp>
        <p:nvSpPr>
          <p:cNvPr id="19" name="desc3"/>
          <p:cNvSpPr txBox="1"/>
          <p:nvPr/>
        </p:nvSpPr>
        <p:spPr>
          <a:xfrm>
            <a:off x="4599432" y="2651760"/>
            <a:ext cx="13167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Bounded loop, stop rules, run logs</a:t>
            </a:r>
            <a:endParaRPr lang="en-US" sz="1200" dirty="0"/>
          </a:p>
        </p:txBody>
      </p:sp>
      <p:sp>
        <p:nvSpPr>
          <p:cNvPr id="20" name="dot4"/>
          <p:cNvSpPr/>
          <p:nvPr/>
        </p:nvSpPr>
        <p:spPr>
          <a:xfrm>
            <a:off x="6400800" y="16459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wk4"/>
          <p:cNvSpPr txBox="1"/>
          <p:nvPr/>
        </p:nvSpPr>
        <p:spPr>
          <a:xfrm>
            <a:off x="5989320" y="1143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W6</a:t>
            </a:r>
            <a:endParaRPr lang="en-US" sz="1300" dirty="0"/>
          </a:p>
        </p:txBody>
      </p:sp>
      <p:sp>
        <p:nvSpPr>
          <p:cNvPr id="22" name="cap4"/>
          <p:cNvSpPr txBox="1"/>
          <p:nvPr/>
        </p:nvSpPr>
        <p:spPr>
          <a:xfrm>
            <a:off x="598932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Memory</a:t>
            </a:r>
            <a:endParaRPr lang="en-US" sz="1600" dirty="0"/>
          </a:p>
        </p:txBody>
      </p:sp>
      <p:sp>
        <p:nvSpPr>
          <p:cNvPr id="23" name="desc4"/>
          <p:cNvSpPr txBox="1"/>
          <p:nvPr/>
        </p:nvSpPr>
        <p:spPr>
          <a:xfrm>
            <a:off x="5971032" y="2651760"/>
            <a:ext cx="13167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Per‑module memory, MCP‑style interface</a:t>
            </a:r>
            <a:endParaRPr lang="en-US" sz="1200" dirty="0"/>
          </a:p>
        </p:txBody>
      </p:sp>
      <p:sp>
        <p:nvSpPr>
          <p:cNvPr id="24" name="dot5"/>
          <p:cNvSpPr/>
          <p:nvPr/>
        </p:nvSpPr>
        <p:spPr>
          <a:xfrm>
            <a:off x="7772400" y="1645920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wk5"/>
          <p:cNvSpPr txBox="1"/>
          <p:nvPr/>
        </p:nvSpPr>
        <p:spPr>
          <a:xfrm>
            <a:off x="7360920" y="1143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W7–8</a:t>
            </a:r>
            <a:endParaRPr lang="en-US" sz="1300" dirty="0"/>
          </a:p>
        </p:txBody>
      </p:sp>
      <p:sp>
        <p:nvSpPr>
          <p:cNvPr id="26" name="cap5"/>
          <p:cNvSpPr txBox="1"/>
          <p:nvPr/>
        </p:nvSpPr>
        <p:spPr>
          <a:xfrm>
            <a:off x="736092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Evaluation</a:t>
            </a:r>
            <a:endParaRPr lang="en-US" sz="1600" dirty="0"/>
          </a:p>
        </p:txBody>
      </p:sp>
      <p:sp>
        <p:nvSpPr>
          <p:cNvPr id="27" name="desc5"/>
          <p:cNvSpPr txBox="1"/>
          <p:nvPr/>
        </p:nvSpPr>
        <p:spPr>
          <a:xfrm>
            <a:off x="7342632" y="2651760"/>
            <a:ext cx="13167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61 scenarios, guardrails, live Gemini runs</a:t>
            </a:r>
            <a:endParaRPr lang="en-US" sz="1200" dirty="0"/>
          </a:p>
        </p:txBody>
      </p:sp>
      <p:sp>
        <p:nvSpPr>
          <p:cNvPr id="28" name="note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Each week: one member designed and built each piece, with tests, an AI-assistance record and a group report.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the AI sits, and what surrounds it</a:t>
            </a:r>
            <a:endParaRPr lang="en-US" sz="2800" dirty="0"/>
          </a:p>
        </p:txBody>
      </p:sp>
      <p:sp>
        <p:nvSpPr>
          <p:cNvPr id="3" name="loop"/>
          <p:cNvSpPr/>
          <p:nvPr/>
        </p:nvSpPr>
        <p:spPr>
          <a:xfrm>
            <a:off x="3246120" y="1965960"/>
            <a:ext cx="2651760" cy="1417320"/>
          </a:xfrm>
          <a:prstGeom prst="roundRect">
            <a:avLst>
              <a:gd name="adj" fmla="val 90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looph"/>
          <p:cNvSpPr txBox="1"/>
          <p:nvPr/>
        </p:nvSpPr>
        <p:spPr>
          <a:xfrm>
            <a:off x="333756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Agent loop</a:t>
            </a:r>
            <a:endParaRPr lang="en-US" sz="1800" dirty="0"/>
          </a:p>
        </p:txBody>
      </p:sp>
      <p:sp>
        <p:nvSpPr>
          <p:cNvPr id="5" name="loopb"/>
          <p:cNvSpPr txBox="1"/>
          <p:nvPr/>
        </p:nvSpPr>
        <p:spPr>
          <a:xfrm>
            <a:off x="3337560" y="2468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src/agent/loop.py  ·  M2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one action per turn, at most one tool call</a:t>
            </a:r>
            <a:endParaRPr lang="en-US" sz="1200" dirty="0"/>
          </a:p>
        </p:txBody>
      </p:sp>
      <p:sp>
        <p:nvSpPr>
          <p:cNvPr id="6" name="part0"/>
          <p:cNvSpPr/>
          <p:nvPr/>
        </p:nvSpPr>
        <p:spPr>
          <a:xfrm>
            <a:off x="457200" y="1097280"/>
            <a:ext cx="25146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arth0"/>
          <p:cNvSpPr txBox="1"/>
          <p:nvPr/>
        </p:nvSpPr>
        <p:spPr>
          <a:xfrm>
            <a:off x="566928" y="11521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Sense</a:t>
            </a:r>
            <a:endParaRPr lang="en-US" sz="1400" dirty="0"/>
          </a:p>
        </p:txBody>
      </p:sp>
      <p:sp>
        <p:nvSpPr>
          <p:cNvPr id="8" name="partb0"/>
          <p:cNvSpPr txBox="1"/>
          <p:nvPr/>
        </p:nvSpPr>
        <p:spPr>
          <a:xfrm>
            <a:off x="566928" y="14813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RAG search, secret redaction, injection flags</a:t>
            </a:r>
            <a:endParaRPr lang="en-US" sz="1100" dirty="0"/>
          </a:p>
        </p:txBody>
      </p:sp>
      <p:sp>
        <p:nvSpPr>
          <p:cNvPr id="9" name="partw0"/>
          <p:cNvSpPr txBox="1"/>
          <p:nvPr/>
        </p:nvSpPr>
        <p:spPr>
          <a:xfrm>
            <a:off x="566928" y="1810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M2 · M3</a:t>
            </a:r>
            <a:endParaRPr lang="en-US" sz="1000" dirty="0"/>
          </a:p>
        </p:txBody>
      </p:sp>
      <p:sp>
        <p:nvSpPr>
          <p:cNvPr id="10" name="link0"/>
          <p:cNvSpPr/>
          <p:nvPr/>
        </p:nvSpPr>
        <p:spPr>
          <a:xfrm>
            <a:off x="2971800" y="160020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part1"/>
          <p:cNvSpPr/>
          <p:nvPr/>
        </p:nvSpPr>
        <p:spPr>
          <a:xfrm>
            <a:off x="457200" y="2331720"/>
            <a:ext cx="25146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arth1"/>
          <p:cNvSpPr txBox="1"/>
          <p:nvPr/>
        </p:nvSpPr>
        <p:spPr>
          <a:xfrm>
            <a:off x="566928" y="23865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</a:t>
            </a:r>
            <a:endParaRPr lang="en-US" sz="1400" dirty="0"/>
          </a:p>
        </p:txBody>
      </p:sp>
      <p:sp>
        <p:nvSpPr>
          <p:cNvPr id="13" name="partb1"/>
          <p:cNvSpPr txBox="1"/>
          <p:nvPr/>
        </p:nvSpPr>
        <p:spPr>
          <a:xfrm>
            <a:off x="566928" y="27157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Citation validator rejects invented sources</a:t>
            </a:r>
            <a:endParaRPr lang="en-US" sz="1100" dirty="0"/>
          </a:p>
        </p:txBody>
      </p:sp>
      <p:sp>
        <p:nvSpPr>
          <p:cNvPr id="14" name="partw1"/>
          <p:cNvSpPr txBox="1"/>
          <p:nvPr/>
        </p:nvSpPr>
        <p:spPr>
          <a:xfrm>
            <a:off x="566928" y="3044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M1</a:t>
            </a:r>
            <a:endParaRPr lang="en-US" sz="1000" dirty="0"/>
          </a:p>
        </p:txBody>
      </p:sp>
      <p:sp>
        <p:nvSpPr>
          <p:cNvPr id="15" name="link1"/>
          <p:cNvSpPr/>
          <p:nvPr/>
        </p:nvSpPr>
        <p:spPr>
          <a:xfrm>
            <a:off x="2971800" y="283464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part2"/>
          <p:cNvSpPr/>
          <p:nvPr/>
        </p:nvSpPr>
        <p:spPr>
          <a:xfrm>
            <a:off x="457200" y="3566160"/>
            <a:ext cx="25146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arth2"/>
          <p:cNvSpPr txBox="1"/>
          <p:nvPr/>
        </p:nvSpPr>
        <p:spPr>
          <a:xfrm>
            <a:off x="566928" y="36210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Stop policy</a:t>
            </a:r>
            <a:endParaRPr lang="en-US" sz="1400" dirty="0"/>
          </a:p>
        </p:txBody>
      </p:sp>
      <p:sp>
        <p:nvSpPr>
          <p:cNvPr id="18" name="partb2"/>
          <p:cNvSpPr txBox="1"/>
          <p:nvPr/>
        </p:nvSpPr>
        <p:spPr>
          <a:xfrm>
            <a:off x="566928" y="39502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5 turns, 120 s, repeats, no progress</a:t>
            </a:r>
            <a:endParaRPr lang="en-US" sz="1100" dirty="0"/>
          </a:p>
        </p:txBody>
      </p:sp>
      <p:sp>
        <p:nvSpPr>
          <p:cNvPr id="19" name="partw2"/>
          <p:cNvSpPr txBox="1"/>
          <p:nvPr/>
        </p:nvSpPr>
        <p:spPr>
          <a:xfrm>
            <a:off x="566928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M1</a:t>
            </a:r>
            <a:endParaRPr lang="en-US" sz="1000" dirty="0"/>
          </a:p>
        </p:txBody>
      </p:sp>
      <p:sp>
        <p:nvSpPr>
          <p:cNvPr id="20" name="link2"/>
          <p:cNvSpPr/>
          <p:nvPr/>
        </p:nvSpPr>
        <p:spPr>
          <a:xfrm>
            <a:off x="2971800" y="406908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part3"/>
          <p:cNvSpPr/>
          <p:nvPr/>
        </p:nvSpPr>
        <p:spPr>
          <a:xfrm>
            <a:off x="6172200" y="1097280"/>
            <a:ext cx="251460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arth3"/>
          <p:cNvSpPr txBox="1"/>
          <p:nvPr/>
        </p:nvSpPr>
        <p:spPr>
          <a:xfrm>
            <a:off x="6281928" y="11521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 (the only AI step)</a:t>
            </a:r>
            <a:endParaRPr lang="en-US" sz="1400" dirty="0"/>
          </a:p>
        </p:txBody>
      </p:sp>
      <p:sp>
        <p:nvSpPr>
          <p:cNvPr id="23" name="partb3"/>
          <p:cNvSpPr txBox="1"/>
          <p:nvPr/>
        </p:nvSpPr>
        <p:spPr>
          <a:xfrm>
            <a:off x="6281928" y="14813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Planner + Gemini 2.5 Flash, prompt v1.3</a:t>
            </a:r>
            <a:endParaRPr lang="en-US" sz="1100" dirty="0"/>
          </a:p>
        </p:txBody>
      </p:sp>
      <p:sp>
        <p:nvSpPr>
          <p:cNvPr id="24" name="partw3"/>
          <p:cNvSpPr txBox="1"/>
          <p:nvPr/>
        </p:nvSpPr>
        <p:spPr>
          <a:xfrm>
            <a:off x="6281928" y="1810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M3 · M2</a:t>
            </a:r>
            <a:endParaRPr lang="en-US" sz="1000" dirty="0"/>
          </a:p>
        </p:txBody>
      </p:sp>
      <p:sp>
        <p:nvSpPr>
          <p:cNvPr id="25" name="link3"/>
          <p:cNvSpPr/>
          <p:nvPr/>
        </p:nvSpPr>
        <p:spPr>
          <a:xfrm>
            <a:off x="5897880" y="160020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part4"/>
          <p:cNvSpPr/>
          <p:nvPr/>
        </p:nvSpPr>
        <p:spPr>
          <a:xfrm>
            <a:off x="6172200" y="2331720"/>
            <a:ext cx="25146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parth4"/>
          <p:cNvSpPr txBox="1"/>
          <p:nvPr/>
        </p:nvSpPr>
        <p:spPr>
          <a:xfrm>
            <a:off x="6281928" y="23865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Act</a:t>
            </a:r>
            <a:endParaRPr lang="en-US" sz="1400" dirty="0"/>
          </a:p>
        </p:txBody>
      </p:sp>
      <p:sp>
        <p:nvSpPr>
          <p:cNvPr id="28" name="partb4"/>
          <p:cNvSpPr txBox="1"/>
          <p:nvPr/>
        </p:nvSpPr>
        <p:spPr>
          <a:xfrm>
            <a:off x="6281928" y="27157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Dispatcher + human approval gate + sandbox</a:t>
            </a:r>
            <a:endParaRPr lang="en-US" sz="1100" dirty="0"/>
          </a:p>
        </p:txBody>
      </p:sp>
      <p:sp>
        <p:nvSpPr>
          <p:cNvPr id="29" name="partw4"/>
          <p:cNvSpPr txBox="1"/>
          <p:nvPr/>
        </p:nvSpPr>
        <p:spPr>
          <a:xfrm>
            <a:off x="6281928" y="3044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M2 · M5 · M3</a:t>
            </a:r>
            <a:endParaRPr lang="en-US" sz="1000" dirty="0"/>
          </a:p>
        </p:txBody>
      </p:sp>
      <p:sp>
        <p:nvSpPr>
          <p:cNvPr id="30" name="link4"/>
          <p:cNvSpPr/>
          <p:nvPr/>
        </p:nvSpPr>
        <p:spPr>
          <a:xfrm>
            <a:off x="5897880" y="283464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part5"/>
          <p:cNvSpPr/>
          <p:nvPr/>
        </p:nvSpPr>
        <p:spPr>
          <a:xfrm>
            <a:off x="6172200" y="3566160"/>
            <a:ext cx="25146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parth5"/>
          <p:cNvSpPr txBox="1"/>
          <p:nvPr/>
        </p:nvSpPr>
        <p:spPr>
          <a:xfrm>
            <a:off x="6281928" y="36210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Record</a:t>
            </a:r>
            <a:endParaRPr lang="en-US" sz="1400" dirty="0"/>
          </a:p>
        </p:txBody>
      </p:sp>
      <p:sp>
        <p:nvSpPr>
          <p:cNvPr id="33" name="partb5"/>
          <p:cNvSpPr txBox="1"/>
          <p:nvPr/>
        </p:nvSpPr>
        <p:spPr>
          <a:xfrm>
            <a:off x="6281928" y="39502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Run logger (fail-closed) + step telemetry</a:t>
            </a:r>
            <a:endParaRPr lang="en-US" sz="1100" dirty="0"/>
          </a:p>
        </p:txBody>
      </p:sp>
      <p:sp>
        <p:nvSpPr>
          <p:cNvPr id="34" name="partw5"/>
          <p:cNvSpPr txBox="1"/>
          <p:nvPr/>
        </p:nvSpPr>
        <p:spPr>
          <a:xfrm>
            <a:off x="6281928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M5 · M2</a:t>
            </a:r>
            <a:endParaRPr lang="en-US" sz="1000" dirty="0"/>
          </a:p>
        </p:txBody>
      </p:sp>
      <p:sp>
        <p:nvSpPr>
          <p:cNvPr id="35" name="link5"/>
          <p:cNvSpPr/>
          <p:nvPr/>
        </p:nvSpPr>
        <p:spPr>
          <a:xfrm>
            <a:off x="5897880" y="406908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fullref"/>
          <p:cNvSpPr txBox="1"/>
          <p:nvPr/>
        </p:nvSpPr>
        <p:spPr>
          <a:xfrm>
            <a:off x="324612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Full diagram: docs/architecture/l5-agent-loop.png</a:t>
            </a:r>
            <a:endParaRPr lang="en-US" sz="10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Live demo: one session, end to end</a:t>
            </a:r>
            <a:endParaRPr lang="en-US" sz="2800" dirty="0"/>
          </a:p>
        </p:txBody>
      </p:sp>
      <p:graphicFrame>
        <p:nvGraphicFramePr>
          <p:cNvPr id="7" name="demo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173736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Show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Command (PYTHONPATH=src python3 …)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the audience sees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Full session (real pipeline)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scripts/run_agent_session.py --goal "…five failed login attempts."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Cited proposal: authentication.md + login_service.py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Human approval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scripts/member5_approval_demo.py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Pending → approved once → pending again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Inspect what happened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scripts/show_run_log.py --last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Every step, incl. human approval_granted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Optional: live Gemini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run_agent_session.py … --live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Needs .env key; completed in 2 turns on 20 Oct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allback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All offline steps need no API key and finish in seconds; a recorded live run is the fallback if the network fails.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Evidence: 61 scenarios, all as expected</a:t>
            </a:r>
            <a:endParaRPr lang="en-US" sz="2800" dirty="0"/>
          </a:p>
        </p:txBody>
      </p:sp>
      <p:sp>
        <p:nvSpPr>
          <p:cNvPr id="3" name="stat0"/>
          <p:cNvSpPr txBox="1"/>
          <p:nvPr/>
        </p:nvSpPr>
        <p:spPr>
          <a:xfrm>
            <a:off x="457200" y="1097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400" dirty="0"/>
          </a:p>
        </p:txBody>
      </p:sp>
      <p:sp>
        <p:nvSpPr>
          <p:cNvPr id="4" name="statl0"/>
          <p:cNvSpPr txBox="1"/>
          <p:nvPr/>
        </p:nvSpPr>
        <p:spPr>
          <a:xfrm>
            <a:off x="457200" y="1755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scenarios run</a:t>
            </a:r>
            <a:endParaRPr lang="en-US" sz="1300" dirty="0"/>
          </a:p>
        </p:txBody>
      </p:sp>
      <p:sp>
        <p:nvSpPr>
          <p:cNvPr id="5" name="stat1"/>
          <p:cNvSpPr txBox="1"/>
          <p:nvPr/>
        </p:nvSpPr>
        <p:spPr>
          <a:xfrm>
            <a:off x="457200" y="2240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61/61</a:t>
            </a:r>
            <a:endParaRPr lang="en-US" sz="4400" dirty="0"/>
          </a:p>
        </p:txBody>
      </p:sp>
      <p:sp>
        <p:nvSpPr>
          <p:cNvPr id="6" name="statl1"/>
          <p:cNvSpPr txBox="1"/>
          <p:nvPr/>
        </p:nvSpPr>
        <p:spPr>
          <a:xfrm>
            <a:off x="457200" y="2898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behaved as expected</a:t>
            </a:r>
            <a:endParaRPr lang="en-US" sz="1300" dirty="0"/>
          </a:p>
        </p:txBody>
      </p:sp>
      <p:sp>
        <p:nvSpPr>
          <p:cNvPr id="7" name="stat2"/>
          <p:cNvSpPr txBox="1"/>
          <p:nvPr/>
        </p:nvSpPr>
        <p:spPr>
          <a:xfrm>
            <a:off x="457200" y="3383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statl2"/>
          <p:cNvSpPr txBox="1"/>
          <p:nvPr/>
        </p:nvSpPr>
        <p:spPr>
          <a:xfrm>
            <a:off x="457200" y="4041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safety violations</a:t>
            </a:r>
            <a:endParaRPr lang="en-US" sz="1300" dirty="0"/>
          </a:p>
        </p:txBody>
      </p:sp>
      <p:graphicFrame>
        <p:nvGraphicFramePr>
          <p:cNvPr id="9" name="categorychart"/>
          <p:cNvGraphicFramePr/>
          <p:nvPr/>
        </p:nvGraphicFramePr>
        <p:xfrm>
          <a:off x="3017520" y="1005840"/>
          <a:ext cx="56692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A real failure, caught and recovered</a:t>
            </a:r>
            <a:endParaRPr lang="en-US" sz="2800" dirty="0"/>
          </a:p>
        </p:txBody>
      </p:sp>
      <p:sp>
        <p:nvSpPr>
          <p:cNvPr id="3" name="tag0"/>
          <p:cNvSpPr/>
          <p:nvPr/>
        </p:nvSpPr>
        <p:spPr>
          <a:xfrm>
            <a:off x="457200" y="1097280"/>
            <a:ext cx="77724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agt0"/>
          <p:cNvSpPr txBox="1"/>
          <p:nvPr/>
        </p:nvSpPr>
        <p:spPr>
          <a:xfrm>
            <a:off x="457200" y="109728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AI</a:t>
            </a:r>
            <a:endParaRPr lang="en-US" sz="1200" dirty="0"/>
          </a:p>
        </p:txBody>
      </p:sp>
      <p:sp>
        <p:nvSpPr>
          <p:cNvPr id="5" name="tlt0"/>
          <p:cNvSpPr txBox="1"/>
          <p:nvPr/>
        </p:nvSpPr>
        <p:spPr>
          <a:xfrm>
            <a:off x="137160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Turn 1: proposes a test citing a file it was never given</a:t>
            </a:r>
            <a:endParaRPr lang="en-US" sz="1300" dirty="0"/>
          </a:p>
        </p:txBody>
      </p:sp>
      <p:sp>
        <p:nvSpPr>
          <p:cNvPr id="6" name="tag1"/>
          <p:cNvSpPr/>
          <p:nvPr/>
        </p:nvSpPr>
        <p:spPr>
          <a:xfrm>
            <a:off x="457200" y="1645920"/>
            <a:ext cx="77724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agt1"/>
          <p:cNvSpPr txBox="1"/>
          <p:nvPr/>
        </p:nvSpPr>
        <p:spPr>
          <a:xfrm>
            <a:off x="457200" y="16459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CODE</a:t>
            </a:r>
            <a:endParaRPr lang="en-US" sz="1200" dirty="0"/>
          </a:p>
        </p:txBody>
      </p:sp>
      <p:sp>
        <p:nvSpPr>
          <p:cNvPr id="8" name="tlt1"/>
          <p:cNvSpPr txBox="1"/>
          <p:nvPr/>
        </p:nvSpPr>
        <p:spPr>
          <a:xfrm>
            <a:off x="1371600" y="16459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citations_rejected: never dispatched</a:t>
            </a:r>
            <a:endParaRPr lang="en-US" sz="1300" dirty="0"/>
          </a:p>
        </p:txBody>
      </p:sp>
      <p:sp>
        <p:nvSpPr>
          <p:cNvPr id="9" name="tag2"/>
          <p:cNvSpPr/>
          <p:nvPr/>
        </p:nvSpPr>
        <p:spPr>
          <a:xfrm>
            <a:off x="457200" y="2194560"/>
            <a:ext cx="77724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agt2"/>
          <p:cNvSpPr txBox="1"/>
          <p:nvPr/>
        </p:nvSpPr>
        <p:spPr>
          <a:xfrm>
            <a:off x="457200" y="21945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AI</a:t>
            </a:r>
            <a:endParaRPr lang="en-US" sz="1200" dirty="0"/>
          </a:p>
        </p:txBody>
      </p:sp>
      <p:sp>
        <p:nvSpPr>
          <p:cNvPr id="11" name="tlt2"/>
          <p:cNvSpPr txBox="1"/>
          <p:nvPr/>
        </p:nvSpPr>
        <p:spPr>
          <a:xfrm>
            <a:off x="1371600" y="2194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Turn 2: asks to run an unknown test ID</a:t>
            </a:r>
            <a:endParaRPr lang="en-US" sz="1300" dirty="0"/>
          </a:p>
        </p:txBody>
      </p:sp>
      <p:sp>
        <p:nvSpPr>
          <p:cNvPr id="12" name="tag3"/>
          <p:cNvSpPr/>
          <p:nvPr/>
        </p:nvSpPr>
        <p:spPr>
          <a:xfrm>
            <a:off x="457200" y="2743200"/>
            <a:ext cx="77724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agt3"/>
          <p:cNvSpPr txBox="1"/>
          <p:nvPr/>
        </p:nvSpPr>
        <p:spPr>
          <a:xfrm>
            <a:off x="457200" y="27432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CODE</a:t>
            </a:r>
            <a:endParaRPr lang="en-US" sz="1200" dirty="0"/>
          </a:p>
        </p:txBody>
      </p:sp>
      <p:sp>
        <p:nvSpPr>
          <p:cNvPr id="14" name="tlt3"/>
          <p:cNvSpPr txBox="1"/>
          <p:nvPr/>
        </p:nvSpPr>
        <p:spPr>
          <a:xfrm>
            <a:off x="1371600" y="27432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tool_rejected: invalid_arguments</a:t>
            </a:r>
            <a:endParaRPr lang="en-US" sz="1300" dirty="0"/>
          </a:p>
        </p:txBody>
      </p:sp>
      <p:sp>
        <p:nvSpPr>
          <p:cNvPr id="15" name="tag4"/>
          <p:cNvSpPr/>
          <p:nvPr/>
        </p:nvSpPr>
        <p:spPr>
          <a:xfrm>
            <a:off x="457200" y="3291840"/>
            <a:ext cx="77724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agt4"/>
          <p:cNvSpPr txBox="1"/>
          <p:nvPr/>
        </p:nvSpPr>
        <p:spPr>
          <a:xfrm>
            <a:off x="457200" y="32918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AI</a:t>
            </a:r>
            <a:endParaRPr lang="en-US" sz="1200" dirty="0"/>
          </a:p>
        </p:txBody>
      </p:sp>
      <p:sp>
        <p:nvSpPr>
          <p:cNvPr id="17" name="tlt4"/>
          <p:cNvSpPr txBox="1"/>
          <p:nvPr/>
        </p:nvSpPr>
        <p:spPr>
          <a:xfrm>
            <a:off x="1371600" y="3291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Turn 3: grounded proposal citing 2 supplied sources</a:t>
            </a:r>
            <a:endParaRPr lang="en-US" sz="1300" dirty="0"/>
          </a:p>
        </p:txBody>
      </p:sp>
      <p:sp>
        <p:nvSpPr>
          <p:cNvPr id="18" name="tag5"/>
          <p:cNvSpPr/>
          <p:nvPr/>
        </p:nvSpPr>
        <p:spPr>
          <a:xfrm>
            <a:off x="457200" y="3840480"/>
            <a:ext cx="7772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agt5"/>
          <p:cNvSpPr txBox="1"/>
          <p:nvPr/>
        </p:nvSpPr>
        <p:spPr>
          <a:xfrm>
            <a:off x="457200" y="384048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CODE</a:t>
            </a:r>
            <a:endParaRPr lang="en-US" sz="1200" dirty="0"/>
          </a:p>
        </p:txBody>
      </p:sp>
      <p:sp>
        <p:nvSpPr>
          <p:cNvPr id="20" name="tlt5"/>
          <p:cNvSpPr txBox="1"/>
          <p:nvPr/>
        </p:nvSpPr>
        <p:spPr>
          <a:xfrm>
            <a:off x="1371600" y="38404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loop_completed: ready for human review</a:t>
            </a:r>
            <a:endParaRPr lang="en-US" sz="1300" dirty="0"/>
          </a:p>
        </p:txBody>
      </p:sp>
      <p:sp>
        <p:nvSpPr>
          <p:cNvPr id="21" name="livebox"/>
          <p:cNvSpPr/>
          <p:nvPr/>
        </p:nvSpPr>
        <p:spPr>
          <a:xfrm>
            <a:off x="5669280" y="1097280"/>
            <a:ext cx="30175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war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280160"/>
            <a:ext cx="411480" cy="411480"/>
          </a:xfrm>
          <a:prstGeom prst="rect">
            <a:avLst/>
          </a:prstGeom>
        </p:spPr>
      </p:pic>
      <p:sp>
        <p:nvSpPr>
          <p:cNvPr id="23" name="liveh"/>
          <p:cNvSpPr txBox="1"/>
          <p:nvPr/>
        </p:nvSpPr>
        <p:spPr>
          <a:xfrm>
            <a:off x="6355080" y="1280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Live Gemini, 16 Oct</a:t>
            </a:r>
            <a:endParaRPr lang="en-US" sz="1500" dirty="0"/>
          </a:p>
        </p:txBody>
      </p:sp>
      <p:sp>
        <p:nvSpPr>
          <p:cNvPr id="24" name="livet"/>
          <p:cNvSpPr txBox="1"/>
          <p:nvPr/>
        </p:nvSpPr>
        <p:spPr>
          <a:xfrm>
            <a:off x="5852160" y="178308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source comment told the model to do nothing. The flagger raised AI-1, but Gemini obeyed and missed the real bug. Lesson: flags inform a reviewer; they do not stop the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Guardrails, and where humans stay in control</a:t>
            </a:r>
            <a:endParaRPr lang="en-US" sz="2800" dirty="0"/>
          </a:p>
        </p:txBody>
      </p:sp>
      <p:sp>
        <p:nvSpPr>
          <p:cNvPr id="3" name="g0"/>
          <p:cNvSpPr/>
          <p:nvPr/>
        </p:nvSpPr>
        <p:spPr>
          <a:xfrm>
            <a:off x="457200" y="109728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bg0"/>
          <p:cNvSpPr/>
          <p:nvPr/>
        </p:nvSpPr>
        <p:spPr>
          <a:xfrm>
            <a:off x="59436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gi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44168"/>
            <a:ext cx="283464" cy="283464"/>
          </a:xfrm>
          <a:prstGeom prst="rect">
            <a:avLst/>
          </a:prstGeom>
        </p:spPr>
      </p:pic>
      <p:sp>
        <p:nvSpPr>
          <p:cNvPr id="6" name="gh0"/>
          <p:cNvSpPr txBox="1"/>
          <p:nvPr/>
        </p:nvSpPr>
        <p:spPr>
          <a:xfrm>
            <a:off x="1170432" y="12344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Citations checked</a:t>
            </a:r>
            <a:endParaRPr lang="en-US" sz="1500" dirty="0"/>
          </a:p>
        </p:txBody>
      </p:sp>
      <p:sp>
        <p:nvSpPr>
          <p:cNvPr id="7" name="gt0"/>
          <p:cNvSpPr txBox="1"/>
          <p:nvPr/>
        </p:nvSpPr>
        <p:spPr>
          <a:xfrm>
            <a:off x="566928" y="17830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Uncited or invented sources are rejected before anything runs</a:t>
            </a:r>
            <a:endParaRPr lang="en-US" sz="1200" dirty="0"/>
          </a:p>
        </p:txBody>
      </p:sp>
      <p:sp>
        <p:nvSpPr>
          <p:cNvPr id="8" name="g1"/>
          <p:cNvSpPr/>
          <p:nvPr/>
        </p:nvSpPr>
        <p:spPr>
          <a:xfrm>
            <a:off x="3246120" y="109728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bg1"/>
          <p:cNvSpPr/>
          <p:nvPr/>
        </p:nvSpPr>
        <p:spPr>
          <a:xfrm>
            <a:off x="3383280" y="1234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gi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344168"/>
            <a:ext cx="283464" cy="283464"/>
          </a:xfrm>
          <a:prstGeom prst="rect">
            <a:avLst/>
          </a:prstGeom>
        </p:spPr>
      </p:pic>
      <p:sp>
        <p:nvSpPr>
          <p:cNvPr id="11" name="gh1"/>
          <p:cNvSpPr txBox="1"/>
          <p:nvPr/>
        </p:nvSpPr>
        <p:spPr>
          <a:xfrm>
            <a:off x="3959352" y="12344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Human approval</a:t>
            </a:r>
            <a:endParaRPr lang="en-US" sz="1500" dirty="0"/>
          </a:p>
        </p:txBody>
      </p:sp>
      <p:sp>
        <p:nvSpPr>
          <p:cNvPr id="12" name="gt1"/>
          <p:cNvSpPr txBox="1"/>
          <p:nvPr/>
        </p:nvSpPr>
        <p:spPr>
          <a:xfrm>
            <a:off x="3355848" y="17830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Tests and drafts need a named approver; single use; no self‑approval</a:t>
            </a:r>
            <a:endParaRPr lang="en-US" sz="1200" dirty="0"/>
          </a:p>
        </p:txBody>
      </p:sp>
      <p:sp>
        <p:nvSpPr>
          <p:cNvPr id="13" name="g2"/>
          <p:cNvSpPr/>
          <p:nvPr/>
        </p:nvSpPr>
        <p:spPr>
          <a:xfrm>
            <a:off x="6035040" y="109728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bg2"/>
          <p:cNvSpPr/>
          <p:nvPr/>
        </p:nvSpPr>
        <p:spPr>
          <a:xfrm>
            <a:off x="617220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gi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344168"/>
            <a:ext cx="283464" cy="283464"/>
          </a:xfrm>
          <a:prstGeom prst="rect">
            <a:avLst/>
          </a:prstGeom>
        </p:spPr>
      </p:pic>
      <p:sp>
        <p:nvSpPr>
          <p:cNvPr id="16" name="gh2"/>
          <p:cNvSpPr txBox="1"/>
          <p:nvPr/>
        </p:nvSpPr>
        <p:spPr>
          <a:xfrm>
            <a:off x="6748272" y="12344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Bounded loop</a:t>
            </a:r>
            <a:endParaRPr lang="en-US" sz="1500" dirty="0"/>
          </a:p>
        </p:txBody>
      </p:sp>
      <p:sp>
        <p:nvSpPr>
          <p:cNvPr id="17" name="gt2"/>
          <p:cNvSpPr txBox="1"/>
          <p:nvPr/>
        </p:nvSpPr>
        <p:spPr>
          <a:xfrm>
            <a:off x="6144768" y="17830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5 turns, 120 s, repeat and no‑progress checks</a:t>
            </a:r>
            <a:endParaRPr lang="en-US" sz="1200" dirty="0"/>
          </a:p>
        </p:txBody>
      </p:sp>
      <p:sp>
        <p:nvSpPr>
          <p:cNvPr id="18" name="g3"/>
          <p:cNvSpPr/>
          <p:nvPr/>
        </p:nvSpPr>
        <p:spPr>
          <a:xfrm>
            <a:off x="457200" y="278892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gbg3"/>
          <p:cNvSpPr/>
          <p:nvPr/>
        </p:nvSpPr>
        <p:spPr>
          <a:xfrm>
            <a:off x="59436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gi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035808"/>
            <a:ext cx="283464" cy="283464"/>
          </a:xfrm>
          <a:prstGeom prst="rect">
            <a:avLst/>
          </a:prstGeom>
        </p:spPr>
      </p:pic>
      <p:sp>
        <p:nvSpPr>
          <p:cNvPr id="21" name="gh3"/>
          <p:cNvSpPr txBox="1"/>
          <p:nvPr/>
        </p:nvSpPr>
        <p:spPr>
          <a:xfrm>
            <a:off x="1170432" y="292608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Sandbox</a:t>
            </a:r>
            <a:endParaRPr lang="en-US" sz="1500" dirty="0"/>
          </a:p>
        </p:txBody>
      </p:sp>
      <p:sp>
        <p:nvSpPr>
          <p:cNvPr id="22" name="gt3"/>
          <p:cNvSpPr txBox="1"/>
          <p:nvPr/>
        </p:nvSpPr>
        <p:spPr>
          <a:xfrm>
            <a:off x="566928" y="34747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Allow-listed test IDs only; no shell, no secrets, 30 s limit</a:t>
            </a:r>
            <a:endParaRPr lang="en-US" sz="1200" dirty="0"/>
          </a:p>
        </p:txBody>
      </p:sp>
      <p:sp>
        <p:nvSpPr>
          <p:cNvPr id="23" name="g4"/>
          <p:cNvSpPr/>
          <p:nvPr/>
        </p:nvSpPr>
        <p:spPr>
          <a:xfrm>
            <a:off x="3246120" y="278892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bg4"/>
          <p:cNvSpPr/>
          <p:nvPr/>
        </p:nvSpPr>
        <p:spPr>
          <a:xfrm>
            <a:off x="338328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gi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035808"/>
            <a:ext cx="283464" cy="283464"/>
          </a:xfrm>
          <a:prstGeom prst="rect">
            <a:avLst/>
          </a:prstGeom>
        </p:spPr>
      </p:pic>
      <p:sp>
        <p:nvSpPr>
          <p:cNvPr id="26" name="gh4"/>
          <p:cNvSpPr txBox="1"/>
          <p:nvPr/>
        </p:nvSpPr>
        <p:spPr>
          <a:xfrm>
            <a:off x="3959352" y="292608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Secrets hidden</a:t>
            </a:r>
            <a:endParaRPr lang="en-US" sz="1500" dirty="0"/>
          </a:p>
        </p:txBody>
      </p:sp>
      <p:sp>
        <p:nvSpPr>
          <p:cNvPr id="27" name="gt4"/>
          <p:cNvSpPr txBox="1"/>
          <p:nvPr/>
        </p:nvSpPr>
        <p:spPr>
          <a:xfrm>
            <a:off x="3355848" y="34747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Credential-shaped text redacted; commits scanned</a:t>
            </a:r>
            <a:endParaRPr lang="en-US" sz="1200" dirty="0"/>
          </a:p>
        </p:txBody>
      </p:sp>
      <p:sp>
        <p:nvSpPr>
          <p:cNvPr id="28" name="g5"/>
          <p:cNvSpPr/>
          <p:nvPr/>
        </p:nvSpPr>
        <p:spPr>
          <a:xfrm>
            <a:off x="6035040" y="278892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gbg5"/>
          <p:cNvSpPr/>
          <p:nvPr/>
        </p:nvSpPr>
        <p:spPr>
          <a:xfrm>
            <a:off x="617220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gi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035808"/>
            <a:ext cx="283464" cy="283464"/>
          </a:xfrm>
          <a:prstGeom prst="rect">
            <a:avLst/>
          </a:prstGeom>
        </p:spPr>
      </p:pic>
      <p:sp>
        <p:nvSpPr>
          <p:cNvPr id="31" name="gh5"/>
          <p:cNvSpPr txBox="1"/>
          <p:nvPr/>
        </p:nvSpPr>
        <p:spPr>
          <a:xfrm>
            <a:off x="6748272" y="292608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Audit trail</a:t>
            </a:r>
            <a:endParaRPr lang="en-US" sz="1500" dirty="0"/>
          </a:p>
        </p:txBody>
      </p:sp>
      <p:sp>
        <p:nvSpPr>
          <p:cNvPr id="32" name="gt5"/>
          <p:cNvSpPr txBox="1"/>
          <p:nvPr/>
        </p:nvSpPr>
        <p:spPr>
          <a:xfrm>
            <a:off x="6144768" y="34747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Every step logged; no logging means no action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Six real defects found, fixed and re-tested</a:t>
            </a:r>
            <a:endParaRPr lang="en-US" sz="2800" dirty="0"/>
          </a:p>
        </p:txBody>
      </p:sp>
      <p:graphicFrame>
        <p:nvGraphicFramePr>
          <p:cNvPr id="11" name="f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669280" cy="21031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Defect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Fixed in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F01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A registered path could read outside the corpus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read_file.py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F02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A stored title could forge a human rejection in the prompt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memory/api.py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F03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A requester could approve their own action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approval_gate.py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F04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An unauthorised decision made a request unusable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approval_gate.py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F05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A telemetry sink could deadlock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telemetry.py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F06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Injection flags never reached the trace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agent/loop.py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fstat"/>
          <p:cNvSpPr txBox="1"/>
          <p:nvPr/>
        </p:nvSpPr>
        <p:spPr>
          <a:xfrm>
            <a:off x="6400800" y="1280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4800" dirty="0"/>
          </a:p>
        </p:txBody>
      </p:sp>
      <p:sp>
        <p:nvSpPr>
          <p:cNvPr id="5" name="fstatl"/>
          <p:cNvSpPr txBox="1"/>
          <p:nvPr/>
        </p:nvSpPr>
        <p:spPr>
          <a:xfrm>
            <a:off x="6400800" y="19659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defects reproduced on the old code and pass on today's code</a:t>
            </a:r>
            <a:endParaRPr lang="en-US" sz="1300" dirty="0"/>
          </a:p>
        </p:txBody>
      </p:sp>
      <p:sp>
        <p:nvSpPr>
          <p:cNvPr id="6" name="fcmd"/>
          <p:cNvSpPr txBox="1"/>
          <p:nvPr/>
        </p:nvSpPr>
        <p:spPr>
          <a:xfrm>
            <a:off x="630936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tests/test_failure_retest.py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we learned, and what is still open</a:t>
            </a:r>
            <a:endParaRPr lang="en-US" sz="2800" dirty="0"/>
          </a:p>
        </p:txBody>
      </p:sp>
      <p:sp>
        <p:nvSpPr>
          <p:cNvPr id="3" name="openh"/>
          <p:cNvSpPr txBox="1"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Still open</a:t>
            </a:r>
            <a:endParaRPr lang="en-US" sz="1800" dirty="0"/>
          </a:p>
        </p:txBody>
      </p:sp>
      <p:sp>
        <p:nvSpPr>
          <p:cNvPr id="4" name="openb"/>
          <p:cNvSpPr txBox="1"/>
          <p:nvPr/>
        </p:nvSpPr>
        <p:spPr>
          <a:xfrm>
            <a:off x="457200" y="14630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Mostly scripted evidence; one live end-to-end session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Flags do not stop a model that obeys an injection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Groundedness = citation validity, not support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Memory not yet read by the live planner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Sandbox is a process, not a container</a:t>
            </a:r>
            <a:endParaRPr lang="en-US" sz="1600" dirty="0"/>
          </a:p>
        </p:txBody>
      </p:sp>
      <p:sp>
        <p:nvSpPr>
          <p:cNvPr id="5" name="lessh"/>
          <p:cNvSpPr txBox="1"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Lessons</a:t>
            </a:r>
            <a:endParaRPr lang="en-US" sz="1800" dirty="0"/>
          </a:p>
        </p:txBody>
      </p:sp>
      <p:sp>
        <p:nvSpPr>
          <p:cNvPr id="6" name="lessb"/>
          <p:cNvSpPr txBox="1"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Check the AI with code, every turn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Make expected failures visible, never hide them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 small, test each layer, then add the next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Own AI-generated code: review, test, explain 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The AI proposes. Code checks. People decide.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Questions?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github.com/SelinaMasembe/Software-engineering-QA-agent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Start here: docs/SYSTEM_GUIDE.md</a:t>
            </a:r>
            <a:endParaRPr lang="en-US" sz="1800" dirty="0"/>
          </a:p>
        </p:txBody>
      </p:sp>
      <p:pic>
        <p:nvPicPr>
          <p:cNvPr id="4" name="motif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982" y="434115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A Agent Slate">
  <a:themeElements>
    <a:clrScheme name="QA Agent Slate">
      <a:dk1>
        <a:srgbClr val="1B2B2E"/>
      </a:dk1>
      <a:lt1>
        <a:srgbClr val="FFFFFF"/>
      </a:lt1>
      <a:dk2>
        <a:srgbClr val="1F3A3D"/>
      </a:dk2>
      <a:lt2>
        <a:srgbClr val="EEF4F2"/>
      </a:lt2>
      <a:accent1>
        <a:srgbClr val="2E7D6B"/>
      </a:accent1>
      <a:accent2>
        <a:srgbClr val="F2A541"/>
      </a:accent2>
      <a:accent3>
        <a:srgbClr val="C8553D"/>
      </a:accent3>
      <a:accent4>
        <a:srgbClr val="456F68"/>
      </a:accent4>
      <a:accent5>
        <a:srgbClr val="9FB8B2"/>
      </a:accent5>
      <a:accent6>
        <a:srgbClr val="3D5A80"/>
      </a:accent6>
      <a:hlink>
        <a:srgbClr val="2E7D6B"/>
      </a:hlink>
      <a:folHlink>
        <a:srgbClr val="5B8C85"/>
      </a:folHlink>
    </a:clrScheme>
    <a:fontScheme name="QA Agent Sla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1525</Words>
  <Application>Microsoft Macintosh PowerPoint</Application>
  <PresentationFormat>On-screen Show (16:9)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QA Agent Slate</vt:lpstr>
      <vt:lpstr>A QA agent that proposes, and never decides alone</vt:lpstr>
      <vt:lpstr>The problem: test design is slow, and AI guesses</vt:lpstr>
      <vt:lpstr>One session: sense, plan, check, act, observe</vt:lpstr>
      <vt:lpstr>Built in layers, one capability per week</vt:lpstr>
      <vt:lpstr>Where the AI sits, and what surrounds it</vt:lpstr>
      <vt:lpstr>Live demo: one session, end to end</vt:lpstr>
      <vt:lpstr>Evidence: 61 scenarios, all as expected</vt:lpstr>
      <vt:lpstr>A real failure, caught and recovered</vt:lpstr>
      <vt:lpstr>Guardrails, and where humans stay in control</vt:lpstr>
      <vt:lpstr>Six real defects found, fixed and re-tested</vt:lpstr>
      <vt:lpstr>What we learned, and what is still open</vt:lpstr>
      <vt:lpstr>The AI proposes. Code checks. People decide.</vt:lpstr>
    </vt:vector>
  </TitlesOfParts>
  <Company>Makerere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Software-Engineering QA Agent</dc:title>
  <dc:subject>PptxGenJS Presentation</dc:subject>
  <dc:creator>Group J</dc:creator>
  <cp:lastModifiedBy>Selina MASEMBE</cp:lastModifiedBy>
  <cp:revision>2</cp:revision>
  <dcterms:created xsi:type="dcterms:W3CDTF">2026-10-23T10:59:49Z</dcterms:created>
  <dcterms:modified xsi:type="dcterms:W3CDTF">2026-10-23T19:24:46Z</dcterms:modified>
</cp:coreProperties>
</file>